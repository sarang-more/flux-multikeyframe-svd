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8F12FC-02C6-4CD1-B382-548BCFEE4B64}">
  <a:tblStyle styleId="{5D8F12FC-02C6-4CD1-B382-548BCFEE4B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c90297735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ac90297735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1070250"/>
            <a:ext cx="8229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FLUX.1-dev + Multi-Keyframe SVD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57200" y="269747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Advanced Multimodal AI Generation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CSCI-B-657: Computer Vision - Final Project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Sarang More (2001448097) and Yash Patel (2001397583)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Indiana University | December 1,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The Problem: Why Text-to-Video Still Fails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40075" y="1097273"/>
            <a:ext cx="78639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0" marR="0" lvl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</a:pPr>
            <a:r>
              <a:rPr lang="en-US" sz="1600" b="1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real motion</a:t>
            </a: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Image-to-video models generate only CAMERA motion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Objects remain static (pan, zoom, tilt only)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actual object animation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Computational Barriers</a:t>
            </a: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State-of-the-art models require 80GB+ VRAM, far beyond academic hardware limits.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A100 only has 40GB VRAM available, that too paid for most users.</a:t>
            </a:r>
            <a:endParaRPr sz="16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Usability Gaps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Requires deep ML expertise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Complex multi-model pipelines</a:t>
            </a:r>
            <a:endParaRPr sz="16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Integration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Separate systems</a:t>
            </a:r>
            <a:r>
              <a:rPr lang="en-US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i.e</a:t>
            </a:r>
            <a:r>
              <a:rPr lang="en-US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no unified framework that combines  images, videos, and evaluation in one system.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Our Solution: Complete Multimodal Pipeline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640080" y="1097280"/>
            <a:ext cx="78639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KEY INNOVATIONS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[1] Multi-Keyframe Motion Synthesis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Real object motion (not camera-only)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Decent</a:t>
            </a: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improvements in motion realism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[2] Memory-Optimized Architecture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% VRAM reduction (44GB -&gt; 12GB)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Runs on Google Colab A100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[3] Integrated Evaluation Pipeline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Automatic CLIP semantic scoring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[4] Zero-Code User Interface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web UI for all users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System Architecture: End-to-End Pipeline</a:t>
            </a:r>
            <a:endParaRPr/>
          </a:p>
        </p:txBody>
      </p:sp>
      <p:pic>
        <p:nvPicPr>
          <p:cNvPr id="104" name="Google Shape;104;p16" descr="architectur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188720"/>
            <a:ext cx="6400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457200" y="594360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Total Pipeline Time: ~ 270 seconds (4.5 minutes)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Design Decision: Why FLUX.1-dev?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1336950" y="3476350"/>
            <a:ext cx="52839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WHY WE CHOSE FLUX.1-dev: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Superior Quality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12B parameters (largest open model)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0.34 CLIP score (93% of Midjourney)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Fully open-source (Apache 2.0)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Available on </a:t>
            </a:r>
            <a:r>
              <a:rPr lang="en-US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HuggingFace</a:t>
            </a: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Hub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Research-Friendly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Transparent architecture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58 seconds per 1024x1024 image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7"/>
          <p:cNvGraphicFramePr/>
          <p:nvPr/>
        </p:nvGraphicFramePr>
        <p:xfrm>
          <a:off x="1336950" y="1104688"/>
          <a:ext cx="6002500" cy="2255370"/>
        </p:xfrm>
        <a:graphic>
          <a:graphicData uri="http://schemas.openxmlformats.org/drawingml/2006/table">
            <a:tbl>
              <a:tblPr>
                <a:noFill/>
                <a:tableStyleId>{5D8F12FC-02C6-4CD1-B382-548BCFEE4B64}</a:tableStyleId>
              </a:tblPr>
              <a:tblGrid>
                <a:gridCol w="15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Model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CLIP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Access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Cost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DALL-E3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API only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$0.04/image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Midjourney v6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0.37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Discord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$10/month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FLUX.1-dev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Diff XL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Free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Design Decision: Why Stable Video Diffusion?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562850" y="4706100"/>
            <a:ext cx="8018400" cy="130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WHY SVD: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Memory efficient </a:t>
            </a:r>
            <a:endParaRPr sz="1800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Reliable </a:t>
            </a:r>
            <a:endParaRPr sz="1800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Research transparent</a:t>
            </a:r>
            <a:endParaRPr dirty="0"/>
          </a:p>
        </p:txBody>
      </p:sp>
      <p:graphicFrame>
        <p:nvGraphicFramePr>
          <p:cNvPr id="119" name="Google Shape;119;p18"/>
          <p:cNvGraphicFramePr/>
          <p:nvPr>
            <p:extLst>
              <p:ext uri="{D42A27DB-BD31-4B8C-83A1-F6EECF244321}">
                <p14:modId xmlns:p14="http://schemas.microsoft.com/office/powerpoint/2010/main" val="2888327826"/>
              </p:ext>
            </p:extLst>
          </p:nvPr>
        </p:nvGraphicFramePr>
        <p:xfrm>
          <a:off x="562838" y="1160325"/>
          <a:ext cx="8018325" cy="3301970"/>
        </p:xfrm>
        <a:graphic>
          <a:graphicData uri="http://schemas.openxmlformats.org/drawingml/2006/table">
            <a:tbl>
              <a:tblPr>
                <a:noFill/>
                <a:tableStyleId>{5D8F12FC-02C6-4CD1-B382-548BCFEE4B64}</a:tableStyleId>
              </a:tblPr>
              <a:tblGrid>
                <a:gridCol w="267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9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Video Diffusion (SVD)</a:t>
                      </a:r>
                      <a:endParaRPr sz="1800" b="1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—--------------------------------</a:t>
                      </a:r>
                      <a:endParaRPr sz="1800" b="1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4290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16GB base VRAM requirement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 attention prevents flickering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Motion bucket control (0-255 speed)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Battle-tested in production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dirty="0" err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AnimateDiff</a:t>
                      </a: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 dirty="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(Alternative)</a:t>
                      </a:r>
                      <a:endParaRPr sz="1800" b="1" dirty="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—--------------------------------</a:t>
                      </a:r>
                      <a:endParaRPr sz="1800" b="1" dirty="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4290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20GB+ VRAM requirement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Text to Video</a:t>
                      </a: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Consistent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Options (Runway/Pika)</a:t>
                      </a:r>
                      <a:endParaRPr sz="1800" dirty="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—--------------------------------</a:t>
                      </a:r>
                      <a:endParaRPr sz="1800" b="1" dirty="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4290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Closed-source black boxes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800"/>
                        <a:buFont typeface="Calibri"/>
                        <a:buChar char="●"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$8-12/month subscription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>
                          <a:solidFill>
                            <a:schemeClr val="dk1"/>
                          </a:solidFill>
                        </a:rPr>
                      </a:b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/>
        </p:nvSpPr>
        <p:spPr>
          <a:xfrm>
            <a:off x="457200" y="139253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Design Decision: Why NOT Sora or Commercial Models?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671250" y="1346651"/>
            <a:ext cx="7173900" cy="5006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Sora (OpenAI) - Announced Feb 2024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l" rtl="0">
              <a:spcBef>
                <a:spcPts val="400"/>
              </a:spcBef>
              <a:spcAft>
                <a:spcPts val="0"/>
              </a:spcAft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Status: NO public access (invitation-only waitlist)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l" rtl="0">
              <a:spcBef>
                <a:spcPts val="400"/>
              </a:spcBef>
              <a:spcAft>
                <a:spcPts val="0"/>
              </a:spcAft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lang="en-US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Cannot inspect, modify, or reproduce results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l" rtl="0">
              <a:spcBef>
                <a:spcPts val="400"/>
              </a:spcBef>
              <a:spcAft>
                <a:spcPts val="0"/>
              </a:spcAft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Research Impact: Zero transparency</a:t>
            </a: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Movie Gen (Meta)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>
              <a:spcBef>
                <a:spcPts val="4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model itself is not open-source or accessible through a public API for general use.</a:t>
            </a:r>
            <a:r>
              <a:rPr lang="en-US" i="0" u="none" strike="noStrike" cap="none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</a:p>
          <a:p>
            <a:pPr marL="457200" marR="0" lvl="0" algn="l" rtl="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model weights and APIs makes it  impossible to use academically.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Gen-2 (Runway), Pika 1.0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l" rtl="0">
              <a:spcBef>
                <a:spcPts val="400"/>
              </a:spcBef>
              <a:spcAft>
                <a:spcPts val="0"/>
              </a:spcAft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Status: Commercial APIs only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l" rtl="0">
              <a:spcBef>
                <a:spcPts val="400"/>
              </a:spcBef>
              <a:spcAft>
                <a:spcPts val="0"/>
              </a:spcAft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Problem: Black box, expensive, no control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RESEARCH REQUIREMENTS: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Reproducibility — cannot recreate results</a:t>
            </a:r>
            <a:endParaRPr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Transparency </a:t>
            </a:r>
            <a:r>
              <a:rPr lang="en-US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— no access to architecture or parameters</a:t>
            </a: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Modifiability </a:t>
            </a:r>
            <a:r>
              <a:rPr lang="en-US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— cannot experiment or extend</a:t>
            </a: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Accessibilit</a:t>
            </a:r>
            <a:r>
              <a:rPr lang="en-US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y — restricted access or high cost</a:t>
            </a:r>
            <a:endParaRPr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Open models (FLUX + SVD) satisfy ALL four.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Infrastructure: Google Colab Limitations &amp; Solutions</a:t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640055" y="799780"/>
            <a:ext cx="7863900" cy="55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CONSTRAINT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Free Colab Pro (For Students) A100: 40GB VRAM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FLUX (26GB) + SVD (16GB) + CLIP (2GB) = 44GB [PROBLEM]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Challenge: 44GB needed &gt; 40GB available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MEMORY OPTIMIZATION SOLUTIONS</a:t>
            </a:r>
            <a:endParaRPr sz="1600" b="1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RESULT: 44GB -&gt; 12GB Peak Usage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72% reduction in memory footprint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GB headroom on 40GB A100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Only 3% slower (excellent tradeoff)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Enables entire pipeline on Colab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640050" y="2442575"/>
          <a:ext cx="7239000" cy="2346840"/>
        </p:xfrm>
        <a:graphic>
          <a:graphicData uri="http://schemas.openxmlformats.org/drawingml/2006/table">
            <a:tbl>
              <a:tblPr>
                <a:noFill/>
                <a:tableStyleId>{5D8F12FC-02C6-4CD1-B382-548BCFEE4B64}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/>
                        <a:t>Technique</a:t>
                      </a:r>
                      <a:endParaRPr sz="12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/>
                        <a:t>VRAM Saved</a:t>
                      </a:r>
                      <a:endParaRPr sz="12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/>
                        <a:t>Speed Impact</a:t>
                      </a:r>
                      <a:endParaRPr sz="1200" b="1"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CPU Offloading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 GB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–15%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Attention Slicing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GB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–5%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VAE Slicing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 GB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–3%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FP16 Precision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 GB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+20%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TOTAL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26 GB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–3% net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457200" y="274329"/>
            <a:ext cx="8229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NOVEL CONTRIBUTION: Multi-Keyframe Motion Synthesis</a:t>
            </a:r>
            <a:endParaRPr sz="1300"/>
          </a:p>
        </p:txBody>
      </p:sp>
      <p:sp>
        <p:nvSpPr>
          <p:cNvPr id="138" name="Google Shape;138;p21"/>
          <p:cNvSpPr txBox="1"/>
          <p:nvPr/>
        </p:nvSpPr>
        <p:spPr>
          <a:xfrm>
            <a:off x="640050" y="1294723"/>
            <a:ext cx="7863900" cy="54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WHY 3 KEYFRAMES? </a:t>
            </a:r>
            <a:endParaRPr sz="1600" b="1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Narrative Structure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Beginning -&gt; Middle -&gt; End mirrors storytelling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Technical Feasibility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 keyframes = 2 transitions = </a:t>
            </a:r>
            <a:r>
              <a:rPr lang="en-US" sz="12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frames total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Fits in A100 memory budget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Quality vs Speed Tradeoff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 keyframes: Too abrupt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 keyframes: Smooth natural motion [OPTIMAL]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4+ keyframes: Diminishing returns and time consuming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MATHEMATICAL FORMULATION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T(1-2) = SVD(K1, K2, n=15, </a:t>
            </a:r>
            <a:r>
              <a:rPr lang="en-US" sz="120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motion_bucket</a:t>
            </a: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=180)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T(2-3) = SVD(K2, K3, n=15, </a:t>
            </a:r>
            <a:r>
              <a:rPr lang="en-US" sz="120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motion_bucket</a:t>
            </a: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=180)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Video = 2</a:t>
            </a:r>
            <a:r>
              <a:rPr lang="en-US" sz="12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x 15 </a:t>
            </a:r>
            <a:r>
              <a:rPr lang="en-US" sz="1200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i.e</a:t>
            </a: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30 frames at 12 fps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KEY RESULTS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●"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Real object motion (not camera tricks)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●"/>
            </a:pPr>
            <a:r>
              <a:rPr lang="en-US" sz="12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Higher</a:t>
            </a: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motion realism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●"/>
            </a:pPr>
            <a:r>
              <a:rPr lang="en-US" sz="12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4.5 min generation time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Automatic Quality Evaluation: CLIP Scoring</a:t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640080" y="1097280"/>
            <a:ext cx="7863900" cy="51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WHY CLIP FOR EVALUATION?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CLIP = Contrastive Language-Image Pre-training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Trained on 400M image-text pairs by OpenAI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Measures semantic alignment objectively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INTERPRETATION GUIDE</a:t>
            </a: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0.40+  = EXCELLENT (Midjourney-level)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0.35   = VERY GOOD (Top commercial quality)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0.30   = GOOD (Acceptable research quality)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0.25   = ACCEPTABLE (Usable)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OUR RESULTS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Average Score: 0.3356 (GOOD quality)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Standard Deviation: 0.0254 (very consistent)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vs Midjourney: 93% quality (0.3356/0.37)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vs DALL-E 3: 90% quality (0.3356/0.38)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Astronaut in space -&gt; CLIP: 0.3521 (VERY GOOD)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Siberian husky in snow -&gt; CLIP: 0.3487 (VERY GOOD)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Zero-Code Access: Gradio Web Interface</a:t>
            </a:r>
            <a:endParaRPr/>
          </a:p>
        </p:txBody>
      </p:sp>
      <p:sp>
        <p:nvSpPr>
          <p:cNvPr id="150" name="Google Shape;150;p23"/>
          <p:cNvSpPr txBox="1"/>
          <p:nvPr/>
        </p:nvSpPr>
        <p:spPr>
          <a:xfrm>
            <a:off x="640080" y="1097280"/>
            <a:ext cx="7863900" cy="51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WHY GRADIO?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Simplicity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 lines of code -&gt; full web interface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frontend development needed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Non-technical users can generate content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Python/ML knowledge required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Share via public URL (72 hours)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Real-time preview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Native image/video players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Mobile-responsive design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DEMOCRATIZED ACCESS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From 'ML experts only' -&gt; 'Anyone with internet'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Experimental Results: Performance Metrics</a:t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640080" y="1097280"/>
            <a:ext cx="7863900" cy="47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IMAGE GENERATION (n=20 prompts)</a:t>
            </a:r>
            <a:endParaRPr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CLIP Score: 0.3356 (GOOD quality)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Std Deviation: 0.0254 (Very consistent)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vs Midjourney: 93% quality (0.3356/0.37)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Generation Time: 58 seconds per 1024x1024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Peak VRAM: 14.2 GB (within budget)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Success Rate: 100% (no failures)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VIDEO GENERATION (n=10 videos)</a:t>
            </a:r>
            <a:endParaRPr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Total Frames: 45 frames at 12 fps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Duration: 3.75 seconds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Resolution: 1024 x 576 (16:9 HD)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Generation Time: 270 seconds (4.5 minutes)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Peak VRAM: 18.7 GB (within budget)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Motion Quality: 4.2/5 (human evaluation)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SCORE DISTRIBUTION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VERY GOOD (0.35+): 40% (8/20 images)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GOOD (0.30-0.35): 50% (10/20 images)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ACCEPTABLE (0.25-0.30): 10% (2/20 images)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/>
        </p:nvSpPr>
        <p:spPr>
          <a:xfrm>
            <a:off x="457200" y="117745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Image Generation Examples: Professional Quality</a:t>
            </a:r>
            <a:endParaRPr/>
          </a:p>
        </p:txBody>
      </p:sp>
      <p:pic>
        <p:nvPicPr>
          <p:cNvPr id="162" name="Google Shape;162;p25" descr="astronau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188720"/>
            <a:ext cx="3840480" cy="3840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 descr="husk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1188720"/>
            <a:ext cx="38404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/>
        </p:nvSpPr>
        <p:spPr>
          <a:xfrm>
            <a:off x="457200" y="5029200"/>
            <a:ext cx="3840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 a</a:t>
            </a:r>
            <a:r>
              <a:rPr lang="en-US" sz="14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stronaut in Deep Space with earth in backgroun</a:t>
            </a:r>
            <a:r>
              <a:rPr lang="en-US" b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CLIP: 0.3521 (VERY GOOD)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1024x1024, 58 seconds</a:t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4846320" y="5029200"/>
            <a:ext cx="3840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4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Siberian Husky walking in Snow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CLIP: 0.3487 (VERY GOOD)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1024x1024, 58 seconds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Competitive Analysis: Our System vs Baselines</a:t>
            </a:r>
            <a:endParaRPr/>
          </a:p>
        </p:txBody>
      </p:sp>
      <p:sp>
        <p:nvSpPr>
          <p:cNvPr id="171" name="Google Shape;171;p26"/>
          <p:cNvSpPr txBox="1"/>
          <p:nvPr/>
        </p:nvSpPr>
        <p:spPr>
          <a:xfrm>
            <a:off x="692005" y="1180430"/>
            <a:ext cx="78639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1500" b="1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5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500" b="1"/>
          </a:p>
          <a:p>
            <a:pPr marL="457200" marR="0" lvl="0" indent="-32385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19% better than SD 1.5</a:t>
            </a:r>
            <a:endParaRPr sz="1500"/>
          </a:p>
          <a:p>
            <a:pPr marL="457200" marR="0" lvl="0" indent="-3238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5% better than SDXL</a:t>
            </a:r>
            <a:endParaRPr sz="1500"/>
          </a:p>
          <a:p>
            <a:pPr marL="457200" marR="0" lvl="0" indent="-3238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93% of Midjourney quality</a:t>
            </a:r>
            <a:endParaRPr sz="1500"/>
          </a:p>
          <a:p>
            <a:pPr marL="457200" marR="0" lvl="0" indent="-3238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Best open-source option</a:t>
            </a:r>
            <a:endParaRPr sz="1500"/>
          </a:p>
        </p:txBody>
      </p:sp>
      <p:graphicFrame>
        <p:nvGraphicFramePr>
          <p:cNvPr id="172" name="Google Shape;172;p26"/>
          <p:cNvGraphicFramePr/>
          <p:nvPr/>
        </p:nvGraphicFramePr>
        <p:xfrm>
          <a:off x="817275" y="1540075"/>
          <a:ext cx="5753300" cy="2630775"/>
        </p:xfrm>
        <a:graphic>
          <a:graphicData uri="http://schemas.openxmlformats.org/drawingml/2006/table">
            <a:tbl>
              <a:tblPr>
                <a:noFill/>
                <a:tableStyleId>{5D8F12FC-02C6-4CD1-B382-548BCFEE4B64}</a:tableStyleId>
              </a:tblPr>
              <a:tblGrid>
                <a:gridCol w="143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i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CLIP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Time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Free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System (FLUX)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0.336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58s 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</a:t>
                      </a:r>
                      <a:endParaRPr sz="15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Midjourney v6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 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60-120s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$10/mo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DALL-E 3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 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30-60s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$0.04/img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Diff XL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0.320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65s 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Innovation Validation: Multi-Keyframe vs Standard SVD</a:t>
            </a:r>
            <a:endParaRPr/>
          </a:p>
        </p:txBody>
      </p:sp>
      <p:sp>
        <p:nvSpPr>
          <p:cNvPr id="178" name="Google Shape;178;p27"/>
          <p:cNvSpPr txBox="1"/>
          <p:nvPr/>
        </p:nvSpPr>
        <p:spPr>
          <a:xfrm>
            <a:off x="671300" y="1394750"/>
            <a:ext cx="7863900" cy="53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QUANTITATIVE COMPARISON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HUMAN EVALUATION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●"/>
            </a:pPr>
            <a:r>
              <a:rPr lang="en-US" sz="12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Standard: 2.8/5 (mediocre)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●"/>
            </a:pPr>
            <a:r>
              <a:rPr lang="en-US" sz="12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Multi-KF:  4.2/5 (good) &lt;- 50% improvement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TRADEOFF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●"/>
            </a:pPr>
            <a:r>
              <a:rPr lang="en-US" sz="12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Cost: 50% longer (4.5 vs 2-3 min)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●"/>
            </a:pPr>
            <a:r>
              <a:rPr lang="en-US" sz="12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Benefit: 50% better quality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●"/>
            </a:pPr>
            <a:r>
              <a:rPr lang="en-US" sz="12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VERDICT: Worth it for research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27"/>
          <p:cNvGraphicFramePr/>
          <p:nvPr/>
        </p:nvGraphicFramePr>
        <p:xfrm>
          <a:off x="671300" y="1739300"/>
          <a:ext cx="6752250" cy="3164791"/>
        </p:xfrm>
        <a:graphic>
          <a:graphicData uri="http://schemas.openxmlformats.org/drawingml/2006/table">
            <a:tbl>
              <a:tblPr>
                <a:noFill/>
                <a:tableStyleId>{5D8F12FC-02C6-4CD1-B382-548BCFEE4B64}</a:tableStyleId>
              </a:tblPr>
              <a:tblGrid>
                <a:gridCol w="225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1"/>
                        <a:t>Metric</a:t>
                      </a:r>
                      <a:endParaRPr sz="13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1"/>
                        <a:t>Standard SVD</a:t>
                      </a:r>
                      <a:endParaRPr sz="13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1"/>
                        <a:t>Our Multi-KF</a:t>
                      </a:r>
                      <a:endParaRPr sz="1300" b="1"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Motion Type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Camera only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Object motion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Frames Generated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14–25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Generation Time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2–3 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4.5 min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VRAM Required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 GB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 GB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Motion Realism (Human)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2.8 / 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4.2 / 5 [+50%]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Temporal Consistency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 / 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4.4 / 5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[+38%]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Storytelling Ability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Honest Assessment: Failure Cases &amp; Solutions</a:t>
            </a:r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640080" y="1097280"/>
            <a:ext cx="7863900" cy="45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OBSERVED FAILURE MODES</a:t>
            </a:r>
            <a:endParaRPr b="1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[1] Abstract Concept Confusion (15%)</a:t>
            </a:r>
            <a:endParaRPr b="1"/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Problem: Vague prompts like '</a:t>
            </a:r>
            <a:r>
              <a:rPr lang="en-US" i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Time heals everything</a:t>
            </a: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endParaRPr/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Mitigation: Prompt templates with concrete keywords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[2] Motion Discontinuity (8%)</a:t>
            </a:r>
            <a:endParaRPr b="1"/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Problem: Sudden position jumps between keyframes</a:t>
            </a:r>
            <a:endParaRPr/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Mitigation: Better stage prompt engineering</a:t>
            </a:r>
            <a:endParaRPr/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[3] Prompt Sensitivity (12%)</a:t>
            </a:r>
            <a:endParaRPr b="1"/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Problem: 'Cat' (0.28) vs 'Cute cat' (0.35)</a:t>
            </a:r>
            <a:endParaRPr/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Mitigation: Automatic prompt enhancement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OVERALL STATISTICS</a:t>
            </a:r>
            <a:endParaRPr b="1"/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Success Rate: 85% acceptable or better</a:t>
            </a:r>
            <a:endParaRPr/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Critical Failures: 0% (no system crashes)</a:t>
            </a:r>
            <a:endParaRPr/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Average Quality: GOOD (CLIP 0.3356)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Current Limitations &amp; Future Roadmap</a:t>
            </a:r>
            <a:endParaRPr/>
          </a:p>
        </p:txBody>
      </p:sp>
      <p:sp>
        <p:nvSpPr>
          <p:cNvPr id="191" name="Google Shape;191;p29"/>
          <p:cNvSpPr txBox="1"/>
          <p:nvPr/>
        </p:nvSpPr>
        <p:spPr>
          <a:xfrm>
            <a:off x="640080" y="1097280"/>
            <a:ext cx="7863900" cy="55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[1] Generation Speed: </a:t>
            </a:r>
            <a:endParaRPr sz="1600" b="1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4.5 min vs 30-60s commercial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  Future Fix: GPU parallelization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[2] Prompt Engineering Required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  Simple -&gt; Generic | Detailed -&gt; High quality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  Future Fix: LLM-based auto-enhancement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[3] Video Duration: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3.75s current, 10-15s desired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     Future Fix: Hierarchical keyframes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FUTURE ROADMAP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Short-Term (1-2 mo):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AnimateDiff, Prompt enhancement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Medium-Term (3-6 mo):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10-15s videos, Interactive editing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●"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Long-Term (6-12 mo):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30s+ videos, Audio, 4K, API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Project Achievements: Impact Across Four Dimensions</a:t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640055" y="1398605"/>
            <a:ext cx="7863900" cy="46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TECHNICAL INNOVATIONS</a:t>
            </a:r>
            <a:endParaRPr sz="13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Multi-Keyframe: 50% better motion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Memory </a:t>
            </a:r>
            <a:r>
              <a:rPr lang="en-US" sz="130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Opt</a:t>
            </a: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% VRAM reduction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First </a:t>
            </a:r>
            <a:r>
              <a:rPr lang="en-US" sz="130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FLUX+SVD+CLIP+Gradio</a:t>
            </a: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system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RESEARCH VALIDATION</a:t>
            </a:r>
            <a:endParaRPr sz="13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CLIP: 0.3356 (93% of Midjourney)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Human Eval: 4.2/5 motion realism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19% better than SD 1.5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Fully reproducible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PRACTICAL IMPACT</a:t>
            </a:r>
            <a:endParaRPr sz="13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Free Colab for all students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Zero-code </a:t>
            </a:r>
            <a:r>
              <a:rPr lang="en-US" sz="130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UI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Template for future projects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 i="0" u="none" strike="noStrike" cap="none" dirty="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AI DEMOCRATIZATION</a:t>
            </a:r>
            <a:endParaRPr sz="13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From 'experts only' -&gt; 'anyone with internet'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From 'closed platforms' -&gt; 'open science'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n-US" sz="130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From 'expensive' -&gt; 'free forever'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Market Position: Academic vs Commercial Systems</a:t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640055" y="1460955"/>
            <a:ext cx="78639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b="1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OUR NICHE: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High-quality open-source multimodal AI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for research, education, and development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Competitive quality at zero cost.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Not competing on speed - proving open science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can match commercial quality while remaining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transparent and accessible.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31"/>
          <p:cNvGraphicFramePr/>
          <p:nvPr/>
        </p:nvGraphicFramePr>
        <p:xfrm>
          <a:off x="640050" y="1834525"/>
          <a:ext cx="7239000" cy="1992163"/>
        </p:xfrm>
        <a:graphic>
          <a:graphicData uri="http://schemas.openxmlformats.org/drawingml/2006/table">
            <a:tbl>
              <a:tblPr>
                <a:noFill/>
                <a:tableStyleId>{5D8F12FC-02C6-4CD1-B382-548BCFEE4B64}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System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Quality (CLIP)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Speed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Cost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/>
                        <a:t>Open?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Our System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0.336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4.5 min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Free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YES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Midjourney v6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1–2 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$10/mo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Runway Gen-2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$12/mo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Pika 1.0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 sec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$8/mo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Conclusion: Bridging Research and Practice</a:t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640050" y="993350"/>
            <a:ext cx="7863900" cy="49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TECHNICAL ACCOMPLISHMENTS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CLIP: 0.3356 (93% of Midjourney)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Real object motion in videos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Sub-5-minute generation time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Runs on free Google Colab A100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RESEARCH CONTRIBUTIONS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Novel multi-keyframe architecture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Memory optimization framework (68% reduction)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Quantitative benchmarking methodology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Open-source reference implementation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PRACTICAL IMPACT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Free a</a:t>
            </a: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ccess to students globally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Zero-code interface for all users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●"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Template for future projects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FUTURE OF GENERATIVE AI: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Not just more powerful models, but better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integration, optimization, and accessibility.</a:t>
            </a:r>
            <a:endParaRPr i="0" u="none" strike="noStrike" cap="non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1584600" y="5959850"/>
            <a:ext cx="59748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OPEN-SOURCE AI CAN MATCH COMMERCIAL QUALITY.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Personal Takeaways</a:t>
            </a:r>
            <a:endParaRPr/>
          </a:p>
        </p:txBody>
      </p:sp>
      <p:sp>
        <p:nvSpPr>
          <p:cNvPr id="217" name="Google Shape;217;p33"/>
          <p:cNvSpPr txBox="1"/>
          <p:nvPr/>
        </p:nvSpPr>
        <p:spPr>
          <a:xfrm>
            <a:off x="640050" y="993350"/>
            <a:ext cx="7863900" cy="59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chemeClr val="dk1"/>
                </a:solidFill>
              </a:rPr>
              <a:t>1. Bridging Theory and Practice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Building this system showed how concepts from class: diffusion models, CLIP embeddings, attention mechanisms, translate into real, production-ready pipelines.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chemeClr val="dk1"/>
                </a:solidFill>
              </a:rPr>
              <a:t>2. Importance of Engineering, Not Just Models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We learned that performance doesn’t come only from bigger models, but from: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 memory optimization, precision handling, caching, and smart design decisions.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chemeClr val="dk1"/>
                </a:solidFill>
              </a:rPr>
              <a:t>3. Understanding Limitations Matters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Working with open-source models highlighted practical constraints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 (VRAM limits, slow runtimes, prompt sensitivity) and taught us how to work </a:t>
            </a:r>
            <a:r>
              <a:rPr lang="en-US" sz="1300" i="1">
                <a:solidFill>
                  <a:schemeClr val="dk1"/>
                </a:solidFill>
              </a:rPr>
              <a:t>around</a:t>
            </a:r>
            <a:r>
              <a:rPr lang="en-US" sz="1300">
                <a:solidFill>
                  <a:schemeClr val="dk1"/>
                </a:solidFill>
              </a:rPr>
              <a:t> them.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chemeClr val="dk1"/>
                </a:solidFill>
              </a:rPr>
              <a:t>4. Value of Open-Source Tools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Using FLUX, SVD, and HuggingFace reinforced how open models enable true learning: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 transparency, reproducibility, and experimentation.</a:t>
            </a: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E509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1949</Words>
  <Application>Microsoft Office PowerPoint</Application>
  <PresentationFormat>On-screen Show (4:3)</PresentationFormat>
  <Paragraphs>471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Sarang More</cp:lastModifiedBy>
  <cp:revision>20</cp:revision>
  <dcterms:modified xsi:type="dcterms:W3CDTF">2025-12-03T17:29:01Z</dcterms:modified>
</cp:coreProperties>
</file>